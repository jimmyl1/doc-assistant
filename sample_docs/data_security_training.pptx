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台灣科技集團股份有限公司</a:t>
            </a:r>
          </a:p>
          <a:p>
            <a:r>
              <a:t>資訊安全意識訓練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資訊安全部 | 適用對象：全體員工</a:t>
            </a:r>
          </a:p>
          <a:p>
            <a:r>
              <a:t>完成期限：到職後30天內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為什麼資訊安全至關重要？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台灣科技的資安現況</a:t>
            </a:r>
          </a:p>
          <a:p>
            <a:r>
              <a:t>• 我們的平台存儲420+家企業的核心業務資料</a:t>
            </a:r>
          </a:p>
          <a:p>
            <a:r>
              <a:t>• 每天處理超過5億筆資料請求</a:t>
            </a:r>
          </a:p>
          <a:p>
            <a:r>
              <a:t>• 2024年全球資安事件平均損失：USD $488萬/次</a:t>
            </a:r>
          </a:p>
          <a:p/>
          <a:p>
            <a:r>
              <a:t>台灣企業面臨的威脅</a:t>
            </a:r>
          </a:p>
          <a:p>
            <a:r>
              <a:t>• 2024年台灣企業遭受網路攻擊次數：+156%</a:t>
            </a:r>
          </a:p>
          <a:p>
            <a:r>
              <a:t>• 勒索軟體是最主要威脅（佔43%）</a:t>
            </a:r>
          </a:p>
          <a:p>
            <a:r>
              <a:t>• 社交工程攻擊成功率持續上升</a:t>
            </a:r>
          </a:p>
          <a:p/>
          <a:p>
            <a:r>
              <a:t>每位員工都是第一道防線</a:t>
            </a:r>
          </a:p>
          <a:p>
            <a:r>
              <a:t>• 90%的資安事件源於人為疏失</a:t>
            </a:r>
          </a:p>
          <a:p>
            <a:r>
              <a:t>• 資安不是IT部門的事，是所有人的責任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主要資安威脅概覽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1. 釣魚攻擊（Phishing）</a:t>
            </a:r>
          </a:p>
          <a:p>
            <a:r>
              <a:t>   偽造郵件誘導點擊惡意連結或提供帳號密碼</a:t>
            </a:r>
          </a:p>
          <a:p/>
          <a:p>
            <a:r>
              <a:t>2. 勒索軟體（Ransomware）</a:t>
            </a:r>
          </a:p>
          <a:p>
            <a:r>
              <a:t>   加密重要檔案，要求支付贖金才解鎖</a:t>
            </a:r>
          </a:p>
          <a:p/>
          <a:p>
            <a:r>
              <a:t>3. 社交工程（Social Engineering）</a:t>
            </a:r>
          </a:p>
          <a:p>
            <a:r>
              <a:t>   假冒主管、IT人員等，誘騙員工洩露資訊</a:t>
            </a:r>
          </a:p>
          <a:p/>
          <a:p>
            <a:r>
              <a:t>4. 內部威脅（Insider Threat）</a:t>
            </a:r>
          </a:p>
          <a:p>
            <a:r>
              <a:t>   員工有意或無意洩露公司機密</a:t>
            </a:r>
          </a:p>
          <a:p/>
          <a:p>
            <a:r>
              <a:t>5. 供應鏈攻擊（Supply Chain Attack）</a:t>
            </a:r>
          </a:p>
          <a:p>
            <a:r>
              <a:t>   透過第三方軟體或服務滲透企業系統</a:t>
            </a:r>
          </a:p>
          <a:p/>
          <a:p>
            <a:r>
              <a:t>6. 帳號憑證盜取（Credential Theft）</a:t>
            </a:r>
          </a:p>
          <a:p>
            <a:r>
              <a:t>   透過資料外洩取得帳號密碼，進行帳號接管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密碼政策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台灣科技密碼政策（強制執行）</a:t>
            </a:r>
          </a:p>
          <a:p/>
          <a:p>
            <a:r>
              <a:t>密碼複雜度要求</a:t>
            </a:r>
          </a:p>
          <a:p>
            <a:r>
              <a:t>• 最少12個字元</a:t>
            </a:r>
          </a:p>
          <a:p>
            <a:r>
              <a:t>• 須包含：大寫字母、小寫字母、數字、特殊符號</a:t>
            </a:r>
          </a:p>
          <a:p>
            <a:r>
              <a:t>• 禁止使用：個人資訊（生日、姓名）、常見密碼（Password123!）</a:t>
            </a:r>
          </a:p>
          <a:p>
            <a:r>
              <a:t>• 禁止重複使用前12個密碼</a:t>
            </a:r>
          </a:p>
          <a:p/>
          <a:p>
            <a:r>
              <a:t>密碼管理</a:t>
            </a:r>
          </a:p>
          <a:p>
            <a:r>
              <a:t>• 公司指定密碼管理器：1Password（Enterprise版）</a:t>
            </a:r>
          </a:p>
          <a:p>
            <a:r>
              <a:t>• 所有工作帳號必須使用密碼管理器儲存</a:t>
            </a:r>
          </a:p>
          <a:p>
            <a:r>
              <a:t>• 禁止在便條紙、Excel記錄密碼</a:t>
            </a:r>
          </a:p>
          <a:p/>
          <a:p>
            <a:r>
              <a:t>多因素驗證（MFA）</a:t>
            </a:r>
          </a:p>
          <a:p>
            <a:r>
              <a:t>• 所有系統強制啟用MFA</a:t>
            </a:r>
          </a:p>
          <a:p>
            <a:r>
              <a:t>• 建議使用：Google Authenticator 或 硬體金鑰（YubiKey）</a:t>
            </a:r>
          </a:p>
          <a:p>
            <a:r>
              <a:t>• 請勿在非本人要求時批准MFA通知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釣魚郵件辨識技巧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警示跡象（Red Flags）</a:t>
            </a:r>
          </a:p>
          <a:p/>
          <a:p>
            <a:r>
              <a:t>寄件者</a:t>
            </a:r>
          </a:p>
          <a:p>
            <a:r>
              <a:t>• 網域名稱拼寫錯誤（twtech-tec.com vs twtech.com）</a:t>
            </a:r>
          </a:p>
          <a:p>
            <a:r>
              <a:t>• 公司主管使用Gmail/Yahoo等私人信箱</a:t>
            </a:r>
          </a:p>
          <a:p/>
          <a:p>
            <a:r>
              <a:t>信件內容</a:t>
            </a:r>
          </a:p>
          <a:p>
            <a:r>
              <a:t>• 製造緊迫感：「立即！否則帳號將被封鎖！」</a:t>
            </a:r>
          </a:p>
          <a:p>
            <a:r>
              <a:t>• 語法錯誤或翻譯腔</a:t>
            </a:r>
          </a:p>
          <a:p>
            <a:r>
              <a:t>• 要求提供帳號密碼或點擊不明連結</a:t>
            </a:r>
          </a:p>
          <a:p>
            <a:r>
              <a:t>• 異常的匯款或禮品卡購買要求</a:t>
            </a:r>
          </a:p>
          <a:p/>
          <a:p>
            <a:r>
              <a:t>連結與附件</a:t>
            </a:r>
          </a:p>
          <a:p>
            <a:r>
              <a:t>• 懸停確認網址（與顯示文字不符）</a:t>
            </a:r>
          </a:p>
          <a:p>
            <a:r>
              <a:t>• .exe .zip .doc（含巨集）附件</a:t>
            </a:r>
          </a:p>
          <a:p/>
          <a:p>
            <a:r>
              <a:t>收到可疑郵件怎麼辦？</a:t>
            </a:r>
          </a:p>
          <a:p>
            <a:r>
              <a:t>→ 不點擊 → 不回覆 → 轉發至 phishing@twtech.com.tw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資料分類與處理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台灣科技資料分類標準</a:t>
            </a:r>
          </a:p>
          <a:p/>
          <a:p>
            <a:r>
              <a:t>C1 公開（Public）</a:t>
            </a:r>
          </a:p>
          <a:p>
            <a:r>
              <a:t>• 官網內容、公開新聞稿</a:t>
            </a:r>
          </a:p>
          <a:p>
            <a:r>
              <a:t>• 可自由分享與公開</a:t>
            </a:r>
          </a:p>
          <a:p/>
          <a:p>
            <a:r>
              <a:t>C2 內部（Internal）</a:t>
            </a:r>
          </a:p>
          <a:p>
            <a:r>
              <a:t>• 內部文件、會議記錄、員工通訊</a:t>
            </a:r>
          </a:p>
          <a:p>
            <a:r>
              <a:t>• 僅限台灣科技員工存取，不得外洩</a:t>
            </a:r>
          </a:p>
          <a:p/>
          <a:p>
            <a:r>
              <a:t>C3 機密（Confidential）</a:t>
            </a:r>
          </a:p>
          <a:p>
            <a:r>
              <a:t>• 客戶資料、財務資訊、合約、原始碼</a:t>
            </a:r>
          </a:p>
          <a:p>
            <a:r>
              <a:t>• 需加密傳輸，須記錄存取紀錄</a:t>
            </a:r>
          </a:p>
          <a:p/>
          <a:p>
            <a:r>
              <a:t>C4 高度機密（Highly Confidential）</a:t>
            </a:r>
          </a:p>
          <a:p>
            <a:r>
              <a:t>• M&amp;A資訊、董事會文件、核心演算法</a:t>
            </a:r>
          </a:p>
          <a:p>
            <a:r>
              <a:t>• 僅限授權人員，實體存取需簽核</a:t>
            </a:r>
          </a:p>
          <a:p/>
          <a:p>
            <a:r>
              <a:t>個人資料（個資）</a:t>
            </a:r>
          </a:p>
          <a:p>
            <a:r>
              <a:t>• 客戶與員工個資依個資法處理</a:t>
            </a:r>
          </a:p>
          <a:p>
            <a:r>
              <a:t>• 禁止未經授權複製或傳輸個資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資安事件回報程序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什麼情況需要通報？</a:t>
            </a:r>
          </a:p>
          <a:p>
            <a:r>
              <a:t>• 發現帳號異常登入或疑似被盜</a:t>
            </a:r>
          </a:p>
          <a:p>
            <a:r>
              <a:t>• 設備遺失或遭竊</a:t>
            </a:r>
          </a:p>
          <a:p>
            <a:r>
              <a:t>• 誤點擊釣魚連結或開啟可疑附件</a:t>
            </a:r>
          </a:p>
          <a:p>
            <a:r>
              <a:t>• 發現資料外洩跡象</a:t>
            </a:r>
          </a:p>
          <a:p>
            <a:r>
              <a:t>• 任何「感覺不對」的資安異狀</a:t>
            </a:r>
          </a:p>
          <a:p/>
          <a:p>
            <a:r>
              <a:t>通報步驟</a:t>
            </a:r>
          </a:p>
          <a:p>
            <a:r>
              <a:t>1. 立即停止使用疑似受感染的設備</a:t>
            </a:r>
          </a:p>
          <a:p>
            <a:r>
              <a:t>2. 通報資安事件（三種管道擇一）：</a:t>
            </a:r>
          </a:p>
          <a:p>
            <a:r>
              <a:t>   • Slack頻道：#security-incident</a:t>
            </a:r>
          </a:p>
          <a:p>
            <a:r>
              <a:t>   • 郵件：security@twtech.com.tw</a:t>
            </a:r>
          </a:p>
          <a:p>
            <a:r>
              <a:t>   • 電話：0800-123-456（24小時）</a:t>
            </a:r>
          </a:p>
          <a:p>
            <a:r>
              <a:t>3. 配合資安小組的調查指示</a:t>
            </a:r>
          </a:p>
          <a:p>
            <a:r>
              <a:t>4. 不自行嘗試「修復」或刪除證據</a:t>
            </a:r>
          </a:p>
          <a:p/>
          <a:p>
            <a:r>
              <a:t>重要：早期通報可以大幅降低損害，不用擔心被責怪！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安全行為守則與考核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日常安全行為</a:t>
            </a:r>
          </a:p>
          <a:p>
            <a:r>
              <a:t>• 離開座位務必鎖定螢幕（Win+L / Cmd+Ctrl+Q）</a:t>
            </a:r>
          </a:p>
          <a:p>
            <a:r>
              <a:t>• 不在公共場所（咖啡廳、捷運）處理機密資料</a:t>
            </a:r>
          </a:p>
          <a:p>
            <a:r>
              <a:t>• 使用公共WiFi必須先連VPN</a:t>
            </a:r>
          </a:p>
          <a:p>
            <a:r>
              <a:t>• 定期備份重要資料至公司指定儲存空間</a:t>
            </a:r>
          </a:p>
          <a:p>
            <a:r>
              <a:t>• 不在個人設備安裝公司應用程式（須使用MDM裝置）</a:t>
            </a:r>
          </a:p>
          <a:p/>
          <a:p>
            <a:r>
              <a:t>訓練考核</a:t>
            </a:r>
          </a:p>
          <a:p>
            <a:r>
              <a:t>• 本課程測驗：80分以上才算通過</a:t>
            </a:r>
          </a:p>
          <a:p>
            <a:r>
              <a:t>• 每季釣魚郵件演練（全員參與）</a:t>
            </a:r>
          </a:p>
          <a:p>
            <a:r>
              <a:t>• 年度資安訓練更新（每年12月）</a:t>
            </a:r>
          </a:p>
          <a:p/>
          <a:p>
            <a:r>
              <a:t>違規後果</a:t>
            </a:r>
          </a:p>
          <a:p>
            <a:r>
              <a:t>• 第一次：書面警告 + 重新訓練</a:t>
            </a:r>
          </a:p>
          <a:p>
            <a:r>
              <a:t>• 第二次：正式懲處，記入人事檔案</a:t>
            </a:r>
          </a:p>
          <a:p>
            <a:r>
              <a:t>• 嚴重違規：依公司規定與法律追究責任</a:t>
            </a:r>
          </a:p>
          <a:p/>
          <a:p>
            <a:r>
              <a:t>有任何資安問題？→ 聯絡 security@twtech.com.tw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