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台灣科技集團股份有限公司</a:t>
            </a:r>
          </a:p>
          <a:p>
            <a:r>
              <a:t>AI戰略規劃 2025-2027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戰略規劃委員會 | 2025年4月</a:t>
            </a:r>
          </a:p>
          <a:p>
            <a:r>
              <a:t>機密等級：C2（限內部高階主管）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全球AI市場趨勢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市場規模</a:t>
            </a:r>
          </a:p>
          <a:p>
            <a:r>
              <a:t>• 2025年全球企業AI市場：USD $2,850億（+38% YoY）</a:t>
            </a:r>
          </a:p>
          <a:p>
            <a:r>
              <a:t>• 亞太地區成長率最高：+45%</a:t>
            </a:r>
          </a:p>
          <a:p>
            <a:r>
              <a:t>• 台灣AI相關採購預算：NT$420億</a:t>
            </a:r>
          </a:p>
          <a:p/>
          <a:p>
            <a:r>
              <a:t>關鍵趨勢</a:t>
            </a:r>
          </a:p>
          <a:p>
            <a:r>
              <a:t>• 生成式AI進入企業核心流程（不再只是實驗）</a:t>
            </a:r>
          </a:p>
          <a:p>
            <a:r>
              <a:t>• 小型專業化模型（SLM）崛起，取代通用大模型</a:t>
            </a:r>
          </a:p>
          <a:p>
            <a:r>
              <a:t>• AI Agent自主化：多步驟任務自動完成</a:t>
            </a:r>
          </a:p>
          <a:p>
            <a:r>
              <a:t>• 資料主權與本地部署需求增加</a:t>
            </a:r>
          </a:p>
          <a:p/>
          <a:p>
            <a:r>
              <a:t>台灣特殊機會</a:t>
            </a:r>
          </a:p>
          <a:p>
            <a:r>
              <a:t>• 半導體+AI的產業鏈整合</a:t>
            </a:r>
          </a:p>
          <a:p>
            <a:r>
              <a:t>• 政府AI政策積極推動（數位部預算+50億）</a:t>
            </a:r>
          </a:p>
          <a:p>
            <a:r>
              <a:t>• 傳統製造業數位化轉型需求龐大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競爭格局分析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主要競爭對手比較</a:t>
            </a:r>
          </a:p>
          <a:p/>
          <a:p>
            <a:r>
              <a:t>全球大廠（Microsoft/Salesforce/SAP）</a:t>
            </a:r>
          </a:p>
          <a:p>
            <a:r>
              <a:t>• 優勢：品牌、資源、生態系</a:t>
            </a:r>
          </a:p>
          <a:p>
            <a:r>
              <a:t>• 劣勢：本地化不足、服務反應慢、價格高</a:t>
            </a:r>
          </a:p>
          <a:p/>
          <a:p>
            <a:r>
              <a:t>本土競爭者（叡揚/精誠/勤業）</a:t>
            </a:r>
          </a:p>
          <a:p>
            <a:r>
              <a:t>• 優勢：本地關係、中文化、合規熟悉</a:t>
            </a:r>
          </a:p>
          <a:p>
            <a:r>
              <a:t>• 劣勢：技術深度不足、AI能力弱</a:t>
            </a:r>
          </a:p>
          <a:p/>
          <a:p>
            <a:r>
              <a:t>台灣科技差異化定位</a:t>
            </a:r>
          </a:p>
          <a:p>
            <a:r>
              <a:t>• 台灣最深度的企業AI原生平台</a:t>
            </a:r>
          </a:p>
          <a:p>
            <a:r>
              <a:t>• 本地資料主權 + 全球技術水準</a:t>
            </a:r>
          </a:p>
          <a:p>
            <a:r>
              <a:t>• 垂直行業AI（金融、製造、醫療）專業度</a:t>
            </a:r>
          </a:p>
          <a:p>
            <a:r>
              <a:t>• 快速導入：90天內看到ROI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台灣科技AI戰略核心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戰略主軸：「AI for Every Enterprise Workflow」</a:t>
            </a:r>
          </a:p>
          <a:p/>
          <a:p>
            <a:r>
              <a:t>三大戰略支柱</a:t>
            </a:r>
          </a:p>
          <a:p/>
          <a:p>
            <a:r>
              <a:t>1. 平台AI化</a:t>
            </a:r>
          </a:p>
          <a:p>
            <a:r>
              <a:t>   現有所有產品嵌入AI能力，AI為預設而非選配</a:t>
            </a:r>
          </a:p>
          <a:p/>
          <a:p>
            <a:r>
              <a:t>2. 垂直AI產品</a:t>
            </a:r>
          </a:p>
          <a:p>
            <a:r>
              <a:t>   針對金融、製造、醫療開發專屬AI解決方案</a:t>
            </a:r>
          </a:p>
          <a:p>
            <a:r>
              <a:t>   每個行業設立獨立的AI產品線</a:t>
            </a:r>
          </a:p>
          <a:p/>
          <a:p>
            <a:r>
              <a:t>3. AI生態系</a:t>
            </a:r>
          </a:p>
          <a:p>
            <a:r>
              <a:t>   建立AI應用市集，吸引ISV在台灣科技平台上開發</a:t>
            </a:r>
          </a:p>
          <a:p>
            <a:r>
              <a:t>   目標：2027年50個AI應用，10,000活躍開發者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短期計畫（2025 H2）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重點項目</a:t>
            </a:r>
          </a:p>
          <a:p/>
          <a:p>
            <a:r>
              <a:t>台灣科技AI助手Pro</a:t>
            </a:r>
          </a:p>
          <a:p>
            <a:r>
              <a:t>• 企業知識庫問答（RAG架構）</a:t>
            </a:r>
          </a:p>
          <a:p>
            <a:r>
              <a:t>• 支援PDF/Word/Excel/PPT文件理解</a:t>
            </a:r>
          </a:p>
          <a:p>
            <a:r>
              <a:t>• 多輪對話與任務記憶</a:t>
            </a:r>
          </a:p>
          <a:p>
            <a:r>
              <a:t>• 預計8月GA，目標Q4貢獻ARR NT$5,000萬</a:t>
            </a:r>
          </a:p>
          <a:p/>
          <a:p>
            <a:r>
              <a:t>AI文件智能</a:t>
            </a:r>
          </a:p>
          <a:p>
            <a:r>
              <a:t>• 合約自動審閱與風險標記</a:t>
            </a:r>
          </a:p>
          <a:p>
            <a:r>
              <a:t>• 財報摘要與異常偵測</a:t>
            </a:r>
          </a:p>
          <a:p>
            <a:r>
              <a:t>• 預計10月上線，目標客群：金融與法律服務業</a:t>
            </a:r>
          </a:p>
          <a:p/>
          <a:p>
            <a:r>
              <a:t>AI程式助手（企業版）</a:t>
            </a:r>
          </a:p>
          <a:p>
            <a:r>
              <a:t>• 整合GitHub/GitLab的程式碼審查AI</a:t>
            </a:r>
          </a:p>
          <a:p>
            <a:r>
              <a:t>• 安全掃描與合規檢查</a:t>
            </a:r>
          </a:p>
          <a:p>
            <a:r>
              <a:t>• 預計12月Beta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中長期計畫（2026-2027）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2026年目標</a:t>
            </a:r>
          </a:p>
          <a:p>
            <a:r>
              <a:t>• 台灣科技AI Agent平台正式上線</a:t>
            </a:r>
          </a:p>
          <a:p>
            <a:r>
              <a:t>  —— 支援跨系統、跨部門的AI自主工作流</a:t>
            </a:r>
          </a:p>
          <a:p>
            <a:r>
              <a:t>• 行業專屬基礎模型（台灣科技FinLM、MedLM）</a:t>
            </a:r>
          </a:p>
          <a:p>
            <a:r>
              <a:t>• 海外市場：日本、新加坡AI產品在地化</a:t>
            </a:r>
          </a:p>
          <a:p>
            <a:r>
              <a:t>• AI相關ARR目標：NT$15億（佔總ARR 35%）</a:t>
            </a:r>
          </a:p>
          <a:p/>
          <a:p>
            <a:r>
              <a:t>2027年願景</a:t>
            </a:r>
          </a:p>
          <a:p>
            <a:r>
              <a:t>• 成為亞太地區排名前3的企業AI平台</a:t>
            </a:r>
          </a:p>
          <a:p>
            <a:r>
              <a:t>• IPO準備：AI業務貢獻度達50%以上</a:t>
            </a:r>
          </a:p>
          <a:p>
            <a:r>
              <a:t>• 自有AI研究院正式成立（50名AI研究員）</a:t>
            </a:r>
          </a:p>
          <a:p>
            <a:r>
              <a:t>• 全球客戶：突破1,000家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AI投資預算需求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2025年AI專項預算：NT$3.8億</a:t>
            </a:r>
          </a:p>
          <a:p/>
          <a:p>
            <a:r>
              <a:t>人才（佔比45%）</a:t>
            </a:r>
          </a:p>
          <a:p>
            <a:r>
              <a:t>• AI工程師30人：NT$1.08億/年</a:t>
            </a:r>
          </a:p>
          <a:p>
            <a:r>
              <a:t>• AI研究員8人：NT$4,000萬/年</a:t>
            </a:r>
          </a:p>
          <a:p>
            <a:r>
              <a:t>• 產品經理4人：NT$1,200萬/年</a:t>
            </a:r>
          </a:p>
          <a:p/>
          <a:p>
            <a:r>
              <a:t>基礎設施（佔比30%）</a:t>
            </a:r>
          </a:p>
          <a:p>
            <a:r>
              <a:t>• GPU運算叢集：NT$3,200萬（資本支出）</a:t>
            </a:r>
          </a:p>
          <a:p>
            <a:r>
              <a:t>• LLM API費用：NT$6,000萬/年</a:t>
            </a:r>
          </a:p>
          <a:p>
            <a:r>
              <a:t>• 向量資料庫與MLOps：NT$800萬/年</a:t>
            </a:r>
          </a:p>
          <a:p/>
          <a:p>
            <a:r>
              <a:t>行銷與生態系（佔比25%）</a:t>
            </a:r>
          </a:p>
          <a:p>
            <a:r>
              <a:t>• AI產品行銷：NT$3,000萬</a:t>
            </a:r>
          </a:p>
          <a:p>
            <a:r>
              <a:t>• 開發者生態系建設：NT$2,500萬</a:t>
            </a:r>
          </a:p>
          <a:p>
            <a:r>
              <a:t>• 行業研究與白皮書：NT$1,000萬</a:t>
            </a:r>
          </a:p>
          <a:p/>
          <a:p>
            <a:r>
              <a:t>預期ROI：2026年AI業務ARR達NT$15億，投資回收期2.5年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執行風險與緩解策略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風險一：AI人才招募困難</a:t>
            </a:r>
          </a:p>
          <a:p>
            <a:r>
              <a:t>• 緩解：與台大、交大設立產學合作；海外招募計畫</a:t>
            </a:r>
          </a:p>
          <a:p/>
          <a:p>
            <a:r>
              <a:t>風險二：模型幻覺與準確性問題</a:t>
            </a:r>
          </a:p>
          <a:p>
            <a:r>
              <a:t>• 緩解：RAG+知識庫架構；人工審核機制；持續評測</a:t>
            </a:r>
          </a:p>
          <a:p/>
          <a:p>
            <a:r>
              <a:t>風險三：資料隱私與法規</a:t>
            </a:r>
          </a:p>
          <a:p>
            <a:r>
              <a:t>• 緩解：本地部署選項；資料去識別化；合規框架</a:t>
            </a:r>
          </a:p>
          <a:p/>
          <a:p>
            <a:r>
              <a:t>風險四：競爭對手快速跟進</a:t>
            </a:r>
          </a:p>
          <a:p>
            <a:r>
              <a:t>• 緩解：加速行業垂直化；建立客戶資料護城河</a:t>
            </a:r>
          </a:p>
          <a:p/>
          <a:p>
            <a:r>
              <a:t>風險五：AI技術快速迭代</a:t>
            </a:r>
          </a:p>
          <a:p>
            <a:r>
              <a:t>• 緩解：模組化架構；避免深度綁定單一模型供應商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